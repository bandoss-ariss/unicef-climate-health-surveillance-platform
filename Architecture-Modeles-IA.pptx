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0" y="-2011680"/>
            <a:ext cx="4754880" cy="4754880"/>
          </a:xfrm>
          <a:prstGeom prst="ellipse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1828800" y="4480559"/>
            <a:ext cx="4023360" cy="4023360"/>
          </a:xfrm>
          <a:prstGeom prst="ellipse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685800"/>
            <a:ext cx="50292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ABE2"/>
                </a:solidFill>
                <a:latin typeface="Calibri"/>
              </a:rPr>
              <a:t>UNICEF BURKINA FASO · PLATEFORME D'ALERTE PRÉCOCE CLIMAT-SANTÉ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3327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Architecture des modèles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9601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FE3F7"/>
                </a:solidFill>
                <a:latin typeface="Calibri"/>
              </a:rPr>
              <a:t>Prédiction, simulation et aide à la décision pour la continuité des soins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2253996" cy="384048"/>
          </a:xfrm>
          <a:prstGeom prst="roundRect">
            <a:avLst>
              <a:gd name="adj" fmla="val 50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Bi-LSTM + 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8124" y="3246120"/>
            <a:ext cx="1728216" cy="384048"/>
          </a:xfrm>
          <a:prstGeom prst="roundRect">
            <a:avLst>
              <a:gd name="adj" fmla="val 50000"/>
            </a:avLst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XGBoost + LSTM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07508" y="3246120"/>
            <a:ext cx="2464308" cy="384048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Random Forest + Bayes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72984" y="3246120"/>
            <a:ext cx="2043684" cy="384048"/>
          </a:xfrm>
          <a:prstGeom prst="roundRect">
            <a:avLst>
              <a:gd name="adj" fmla="val 50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mBART 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17836" y="3246120"/>
            <a:ext cx="1412748" cy="384048"/>
          </a:xfrm>
          <a:prstGeom prst="roundRect">
            <a:avLst>
              <a:gd name="adj" fmla="val 50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Monte Carlo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0515600" cy="10972"/>
          </a:xfrm>
          <a:prstGeom prst="rect">
            <a:avLst/>
          </a:prstGeom>
          <a:solidFill>
            <a:srgbClr val="2C4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FB8D9"/>
                </a:solidFill>
                <a:latin typeface="Calibri"/>
              </a:rPr>
              <a:t>Pilote — 10 centres de santé · 3 districts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E97BC"/>
                </a:solidFill>
                <a:latin typeface="Calibri"/>
              </a:rPr>
              <a:t>GO AI CORP — en collaboration avec UNICEF Burkina Faso ·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6126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E97BC"/>
                </a:solidFill>
                <a:latin typeface="Calibri"/>
              </a:rPr>
              <a:t>Digital Public Good ·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VUE D'ENSEMBLE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Du capteur à la décision : le pipeline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02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00200"/>
            <a:ext cx="3246120" cy="429768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600200"/>
            <a:ext cx="3246120" cy="502920"/>
          </a:xfrm>
          <a:prstGeom prst="roundRect">
            <a:avLst>
              <a:gd name="adj" fmla="val 9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856232"/>
            <a:ext cx="3246120" cy="24688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313432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DHIS2 / SIMR (MSPS)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990088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2990088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ANAM · ECMWF-IFS · ERA5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3666744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" y="3666744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CHIRPS · GPM (pluie)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343400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434340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MODIS NDVI · NASA POWER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5020056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" y="5020056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Capteurs IoT (10 centres)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9623" y="3749039"/>
            <a:ext cx="393192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297679" y="1600200"/>
            <a:ext cx="3246120" cy="429768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297679" y="1600200"/>
            <a:ext cx="3246120" cy="502920"/>
          </a:xfrm>
          <a:prstGeom prst="roundRect">
            <a:avLst>
              <a:gd name="adj" fmla="val 9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97679" y="1856232"/>
            <a:ext cx="3246120" cy="246888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79" y="1600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MODÈLES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3712" y="2313432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2313432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Prédicteur épidémique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53712" y="2990088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0016" y="2990088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Prévision énergie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3666744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0016" y="3666744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Risque climatique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53712" y="4343400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00016" y="434340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Traduction (NLP)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53712" y="5020056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00016" y="5020056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Simulateur Monte Carlo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598664" y="3749039"/>
            <a:ext cx="393192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46719" y="1600200"/>
            <a:ext cx="3246120" cy="4297680"/>
          </a:xfrm>
          <a:prstGeom prst="roundRect">
            <a:avLst>
              <a:gd name="adj" fmla="val 45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046719" y="1600200"/>
            <a:ext cx="3246120" cy="502920"/>
          </a:xfrm>
          <a:prstGeom prst="roundRect">
            <a:avLst>
              <a:gd name="adj" fmla="val 9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46719" y="1856232"/>
            <a:ext cx="3246120" cy="246888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46719" y="160020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SORTIES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1" y="2313432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49055" y="2313432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Alertes priorisées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02751" y="2990088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49055" y="2990088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Tableau de bord live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02751" y="3666744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49055" y="3666744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Messages multilingues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02751" y="4343400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49055" y="4343400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Scénarios "et si ?"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2751" y="5020056"/>
            <a:ext cx="2734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49055" y="5020056"/>
            <a:ext cx="244144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733"/>
                </a:solidFill>
                <a:latin typeface="Calibri"/>
              </a:rPr>
              <a:t>Plans d'action chiffrés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08076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7280"/>
                </a:solidFill>
                <a:latin typeface="Calibri"/>
              </a:rPr>
              <a:t>Fusion multi-sources → modèles spécialisés par risque → décisions actionnables en 48–72 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MODÈLES DE PRÉDICTION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Quatre modèles spécialisés, un par risque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03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554480"/>
            <a:ext cx="82296" cy="1783080"/>
          </a:xfrm>
          <a:prstGeom prst="rect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8" y="175564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3736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B5C"/>
                </a:solidFill>
                <a:latin typeface="Calibri"/>
              </a:rPr>
              <a:t>Prédicteur épidémique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01168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Bi-LSTM + 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340864"/>
            <a:ext cx="2583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74EA2"/>
                </a:solidFill>
                <a:latin typeface="Calibri"/>
              </a:rPr>
              <a:t>F1 = 0,83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15184"/>
            <a:ext cx="4764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Horizon 14 j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880360"/>
            <a:ext cx="4764024" cy="548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971800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B7280"/>
                </a:solidFill>
                <a:latin typeface="Calibri"/>
              </a:rPr>
              <a:t>DHIS2 · ANAM · CHIRPS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155448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97880" y="1554480"/>
            <a:ext cx="82296" cy="1783080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99048" y="175564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173736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B5C"/>
                </a:solidFill>
                <a:latin typeface="Calibri"/>
              </a:rPr>
              <a:t>Prévision énergie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2011680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XGBoost + LSTM hybride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8" y="2340864"/>
            <a:ext cx="2583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C20E"/>
                </a:solidFill>
                <a:latin typeface="Calibri"/>
              </a:rPr>
              <a:t>R² = 0,92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8" y="2615184"/>
            <a:ext cx="4764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Horizon 72 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9048" y="2880360"/>
            <a:ext cx="4764024" cy="548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99048" y="2971800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B7280"/>
                </a:solidFill>
                <a:latin typeface="Calibri"/>
              </a:rPr>
              <a:t>Capteurs IoT · NASA POWER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52044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3520440"/>
            <a:ext cx="82296" cy="17830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9808" y="372160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70332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B5C"/>
                </a:solidFill>
                <a:latin typeface="Calibri"/>
              </a:rPr>
              <a:t>Risque climatique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977639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Random Forest + Bayésien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306824"/>
            <a:ext cx="2583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6A21"/>
                </a:solidFill>
                <a:latin typeface="Calibri"/>
              </a:rPr>
              <a:t>AUC = 0,91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581144"/>
            <a:ext cx="4764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Horizon 7 j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8" y="4846320"/>
            <a:ext cx="4764024" cy="548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" y="4937759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B7280"/>
                </a:solidFill>
                <a:latin typeface="Calibri"/>
              </a:rPr>
              <a:t>ECMWF · ERA5 · MODIS NDVI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80" y="3520440"/>
            <a:ext cx="51663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97880" y="3520440"/>
            <a:ext cx="82296" cy="1783080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099048" y="3721608"/>
            <a:ext cx="420624" cy="420624"/>
          </a:xfrm>
          <a:prstGeom prst="roundRect">
            <a:avLst>
              <a:gd name="adj" fmla="val 30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3703320"/>
            <a:ext cx="4251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42B5C"/>
                </a:solidFill>
                <a:latin typeface="Calibri"/>
              </a:rPr>
              <a:t>Traduction santé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7688" y="3977639"/>
            <a:ext cx="42519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mBART fine-tuné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9048" y="4306824"/>
            <a:ext cx="25831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A1E74"/>
                </a:solidFill>
                <a:latin typeface="Calibri"/>
              </a:rPr>
              <a:t>BLEU = 34,7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9048" y="4581144"/>
            <a:ext cx="4764024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Horizon 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9048" y="4846320"/>
            <a:ext cx="4764024" cy="5486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099048" y="4937759"/>
            <a:ext cx="4764024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 i="0">
                <a:solidFill>
                  <a:srgbClr val="6B7280"/>
                </a:solidFill>
                <a:latin typeface="Calibri"/>
              </a:rPr>
              <a:t>Corpus MSPS · relecture communautaire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532120"/>
            <a:ext cx="10725912" cy="777240"/>
          </a:xfrm>
          <a:prstGeom prst="roundRect">
            <a:avLst>
              <a:gd name="adj" fmla="val 14000"/>
            </a:avLst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5532120"/>
            <a:ext cx="1026871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374EA2"/>
                </a:solidFill>
                <a:latin typeface="Calibri"/>
              </a:rPr>
              <a:t>Les 4 pages suivantes détaillent l'architecture interne de chaque modèle (couches, entrées, sorties).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ARCHITECTURE NEURONALE · 1/4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Prédicteur épidémique — Bi-LSTM +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Réseau de neurones récurrent bidirectionnel — capture les tendances passées dans les deux sens du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04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85900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31620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7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0420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0613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34940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8065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1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S-1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09459" y="1783080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55179" y="1783080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1490472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280"/>
                </a:solidFill>
                <a:latin typeface="Calibri"/>
              </a:rPr>
              <a:t>Entrée : vecteur de features hebdomadaire  x_t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79" y="2331720"/>
            <a:ext cx="7680960" cy="173736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057400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B5C"/>
                </a:solidFill>
                <a:latin typeface="Calibri"/>
              </a:rPr>
              <a:t>Bi-LSTM — 64 unités par sens (128-d concaténé)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94460" y="2724912"/>
            <a:ext cx="9144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7155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485900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531620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1720" y="2724912"/>
            <a:ext cx="9144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0881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2423160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46887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68979" y="2724912"/>
            <a:ext cx="91441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84607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360420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40613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6240" y="2724912"/>
            <a:ext cx="91439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8333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297679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4339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143499" y="2724912"/>
            <a:ext cx="9144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72059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234940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8065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080759" y="2724912"/>
            <a:ext cx="9144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57850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6172199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1791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018019" y="2724912"/>
            <a:ext cx="9144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595109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109459" y="253288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155179" y="253288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h→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32369" y="2167128"/>
            <a:ext cx="0" cy="365760"/>
          </a:xfrm>
          <a:prstGeom prst="line">
            <a:avLst/>
          </a:prstGeom>
          <a:ln w="12700">
            <a:solidFill>
              <a:srgbClr val="B9C2D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8640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485900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531620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1394460" y="3364991"/>
            <a:ext cx="91440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2423160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46887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2331720" y="3364991"/>
            <a:ext cx="91440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3360420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40613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69" name="Connector 68"/>
          <p:cNvCxnSpPr/>
          <p:nvPr/>
        </p:nvCxnSpPr>
        <p:spPr>
          <a:xfrm flipH="1">
            <a:off x="3268979" y="3364991"/>
            <a:ext cx="91441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4297679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34339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4206240" y="3364991"/>
            <a:ext cx="91439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5234940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28065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75" name="Connector 74"/>
          <p:cNvCxnSpPr/>
          <p:nvPr/>
        </p:nvCxnSpPr>
        <p:spPr>
          <a:xfrm flipH="1">
            <a:off x="5143500" y="3364991"/>
            <a:ext cx="91440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6172199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1791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6080759" y="3364991"/>
            <a:ext cx="91440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109459" y="3172968"/>
            <a:ext cx="845819" cy="384048"/>
          </a:xfrm>
          <a:prstGeom prst="roundRect">
            <a:avLst>
              <a:gd name="adj" fmla="val 16000"/>
            </a:avLst>
          </a:prstGeom>
          <a:solidFill>
            <a:srgbClr val="9B5D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155179" y="3172968"/>
            <a:ext cx="7543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h←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7018019" y="3364991"/>
            <a:ext cx="91440" cy="0"/>
          </a:xfrm>
          <a:prstGeom prst="line">
            <a:avLst/>
          </a:prstGeom>
          <a:ln w="19050">
            <a:solidFill>
              <a:srgbClr val="9B5D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48640" y="4251959"/>
            <a:ext cx="7406640" cy="384048"/>
          </a:xfrm>
          <a:prstGeom prst="roundRect">
            <a:avLst>
              <a:gd name="adj" fmla="val 20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548640" y="4251959"/>
            <a:ext cx="74066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Concaténation  h_t = [h→_t ; h←_t]  →  séquence 128-d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4251959" y="4069079"/>
            <a:ext cx="0" cy="182880"/>
          </a:xfrm>
          <a:prstGeom prst="line">
            <a:avLst/>
          </a:prstGeom>
          <a:ln w="22225">
            <a:solidFill>
              <a:srgbClr val="6A1E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8640" y="4590288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42B5C"/>
                </a:solidFill>
                <a:latin typeface="Calibri"/>
              </a:rPr>
              <a:t>Couche d'attention — poids α_t par semaine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8640" y="5159141"/>
            <a:ext cx="845819" cy="144378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7" name="Connector 86"/>
          <p:cNvCxnSpPr/>
          <p:nvPr/>
        </p:nvCxnSpPr>
        <p:spPr>
          <a:xfrm>
            <a:off x="971550" y="4636007"/>
            <a:ext cx="0" cy="523134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1485900" y="5086951"/>
            <a:ext cx="845819" cy="216568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>
            <a:off x="1908810" y="4636007"/>
            <a:ext cx="0" cy="450944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2423160" y="5111014"/>
            <a:ext cx="845819" cy="192505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1" name="Connector 90"/>
          <p:cNvCxnSpPr/>
          <p:nvPr/>
        </p:nvCxnSpPr>
        <p:spPr>
          <a:xfrm>
            <a:off x="2846070" y="4636007"/>
            <a:ext cx="0" cy="475007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3360420" y="5014762"/>
            <a:ext cx="845819" cy="288757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>
            <a:off x="3783330" y="4636007"/>
            <a:ext cx="0" cy="378755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ounded Rectangle 93"/>
          <p:cNvSpPr/>
          <p:nvPr/>
        </p:nvSpPr>
        <p:spPr>
          <a:xfrm>
            <a:off x="4297679" y="4942572"/>
            <a:ext cx="845819" cy="360947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>
            <a:off x="4720590" y="4636007"/>
            <a:ext cx="0" cy="306565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5234940" y="4846320"/>
            <a:ext cx="845819" cy="457200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7" name="Connector 96"/>
          <p:cNvCxnSpPr/>
          <p:nvPr/>
        </p:nvCxnSpPr>
        <p:spPr>
          <a:xfrm>
            <a:off x="5657850" y="4636007"/>
            <a:ext cx="0" cy="210313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6172199" y="4966635"/>
            <a:ext cx="845819" cy="336884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9" name="Connector 98"/>
          <p:cNvCxnSpPr/>
          <p:nvPr/>
        </p:nvCxnSpPr>
        <p:spPr>
          <a:xfrm>
            <a:off x="6595109" y="4636007"/>
            <a:ext cx="0" cy="330628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/>
          <p:cNvSpPr/>
          <p:nvPr/>
        </p:nvSpPr>
        <p:spPr>
          <a:xfrm>
            <a:off x="7109459" y="4894446"/>
            <a:ext cx="845819" cy="409073"/>
          </a:xfrm>
          <a:prstGeom prst="roundRect">
            <a:avLst>
              <a:gd name="adj" fmla="val 3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1" name="Connector 100"/>
          <p:cNvCxnSpPr/>
          <p:nvPr/>
        </p:nvCxnSpPr>
        <p:spPr>
          <a:xfrm>
            <a:off x="7532369" y="4636007"/>
            <a:ext cx="0" cy="258439"/>
          </a:xfrm>
          <a:prstGeom prst="line">
            <a:avLst/>
          </a:prstGeom>
          <a:ln w="11430">
            <a:solidFill>
              <a:srgbClr val="E7C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ounded Rectangle 101"/>
          <p:cNvSpPr/>
          <p:nvPr/>
        </p:nvSpPr>
        <p:spPr>
          <a:xfrm>
            <a:off x="548640" y="557784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48640" y="55778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Vecteur de contexte c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383280" y="5806440"/>
            <a:ext cx="365759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3840480" y="5577840"/>
            <a:ext cx="2011680" cy="457200"/>
          </a:xfrm>
          <a:prstGeom prst="roundRect">
            <a:avLst>
              <a:gd name="adj" fmla="val 20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3840480" y="557784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Dense 32 · ReLU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5852159" y="5806440"/>
            <a:ext cx="365761" cy="0"/>
          </a:xfrm>
          <a:prstGeom prst="line">
            <a:avLst/>
          </a:prstGeom>
          <a:ln w="254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6309359" y="5577840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09359" y="55778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Sigmoïde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229600" y="1554480"/>
            <a:ext cx="3429000" cy="44348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458200" y="173736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C"/>
                </a:solidFill>
                <a:latin typeface="Calibri"/>
              </a:rPr>
              <a:t>Hyperparamètres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458200" y="2103120"/>
            <a:ext cx="301752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Fenêtre : </a:t>
            </a:r>
            <a:r>
              <a:rPr sz="1080">
                <a:solidFill>
                  <a:srgbClr val="6B7280"/>
                </a:solidFill>
                <a:latin typeface="Calibri"/>
              </a:rPr>
              <a:t>8 semaines glissantes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Unités LSTM : </a:t>
            </a:r>
            <a:r>
              <a:rPr sz="1080">
                <a:solidFill>
                  <a:srgbClr val="6B7280"/>
                </a:solidFill>
                <a:latin typeface="Calibri"/>
              </a:rPr>
              <a:t>64 × 2 sens = 128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Dropout : </a:t>
            </a:r>
            <a:r>
              <a:rPr sz="1080">
                <a:solidFill>
                  <a:srgbClr val="6B7280"/>
                </a:solidFill>
                <a:latin typeface="Calibri"/>
              </a:rPr>
              <a:t>0,2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Paramètres : </a:t>
            </a:r>
            <a:r>
              <a:rPr sz="1080">
                <a:solidFill>
                  <a:srgbClr val="6B7280"/>
                </a:solidFill>
                <a:latin typeface="Calibri"/>
              </a:rPr>
              <a:t>≈ 85 k entraînables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Perte : </a:t>
            </a:r>
            <a:r>
              <a:rPr sz="1080">
                <a:solidFill>
                  <a:srgbClr val="6B7280"/>
                </a:solidFill>
                <a:latin typeface="Calibri"/>
              </a:rPr>
              <a:t>entropie croisée pondérée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Optimiseur : </a:t>
            </a:r>
            <a:r>
              <a:rPr sz="1080">
                <a:solidFill>
                  <a:srgbClr val="6B7280"/>
                </a:solidFill>
                <a:latin typeface="Calibri"/>
              </a:rPr>
              <a:t>Adam, lr = 1e-3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880" b="1">
                <a:solidFill>
                  <a:srgbClr val="374EA2"/>
                </a:solidFill>
              </a:rPr>
              <a:t>●  </a:t>
            </a:r>
            <a:r>
              <a:rPr sz="1080" b="1">
                <a:solidFill>
                  <a:srgbClr val="222733"/>
                </a:solidFill>
                <a:latin typeface="Calibri"/>
              </a:rPr>
              <a:t>Sorties : </a:t>
            </a:r>
            <a:r>
              <a:rPr sz="1080">
                <a:solidFill>
                  <a:srgbClr val="6B7280"/>
                </a:solidFill>
                <a:latin typeface="Calibri"/>
              </a:rPr>
              <a:t>4 têtes (une / pathologie)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58200" y="4892040"/>
            <a:ext cx="2971800" cy="9601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686800" y="4892040"/>
            <a:ext cx="25146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374EA2"/>
                </a:solidFill>
                <a:latin typeface="Calibri"/>
              </a:rPr>
              <a:t>Sortie finale : P(dépassement du seuil épidémique) à J+14, par district et pathologie.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ARCHITECTURE HYBRIDE · 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Prévision énergie — XGBoost + LSTM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Deux branches complémentaires fusionnées : arbres pour les seuils tabulaires, LSTM pour la dynamique temporelle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05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B5C"/>
                </a:solidFill>
                <a:latin typeface="Calibri"/>
              </a:rPr>
              <a:t>Branche tabulaire — Gradient Boosting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2140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SOC batterie, état onduleur/PV, irradiance J+1..3 (NASA POWER), jours depuis maintenance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960120" y="2697480"/>
            <a:ext cx="502920" cy="502920"/>
          </a:xfrm>
          <a:prstGeom prst="triangl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27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254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+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1828800" y="2697480"/>
            <a:ext cx="502920" cy="502920"/>
          </a:xfrm>
          <a:prstGeom prst="triangl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28800" y="3227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8254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+</a:t>
            </a:r>
          </a:p>
        </p:txBody>
      </p:sp>
      <p:sp>
        <p:nvSpPr>
          <p:cNvPr id="18" name="Isosceles Triangle 17"/>
          <p:cNvSpPr/>
          <p:nvPr/>
        </p:nvSpPr>
        <p:spPr>
          <a:xfrm>
            <a:off x="2697480" y="2697480"/>
            <a:ext cx="502920" cy="502920"/>
          </a:xfrm>
          <a:prstGeom prst="triangl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97480" y="3227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8254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+</a:t>
            </a:r>
          </a:p>
        </p:txBody>
      </p:sp>
      <p:sp>
        <p:nvSpPr>
          <p:cNvPr id="21" name="Isosceles Triangle 20"/>
          <p:cNvSpPr/>
          <p:nvPr/>
        </p:nvSpPr>
        <p:spPr>
          <a:xfrm>
            <a:off x="3566160" y="2697480"/>
            <a:ext cx="502920" cy="502920"/>
          </a:xfrm>
          <a:prstGeom prst="triangl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3227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2825496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6B7280"/>
                </a:solidFill>
                <a:latin typeface="Calibri"/>
              </a:rPr>
              <a:t>+</a:t>
            </a:r>
          </a:p>
        </p:txBody>
      </p:sp>
      <p:sp>
        <p:nvSpPr>
          <p:cNvPr id="24" name="Isosceles Triangle 23"/>
          <p:cNvSpPr/>
          <p:nvPr/>
        </p:nvSpPr>
        <p:spPr>
          <a:xfrm>
            <a:off x="4434840" y="2697480"/>
            <a:ext cx="502920" cy="502920"/>
          </a:xfrm>
          <a:prstGeom prst="triangle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322783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Calibri"/>
              </a:rPr>
              <a:t>T5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5204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280"/>
                </a:solidFill>
                <a:latin typeface="Calibri"/>
              </a:rPr>
              <a:t>≈ 300 arbres, profondeur ≤ 6 (boosting séquentiel)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182880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42B5C"/>
                </a:solidFill>
                <a:latin typeface="Calibri"/>
              </a:rPr>
              <a:t>Branche temporelle — LSTM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2121408"/>
            <a:ext cx="4892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B7280"/>
                </a:solidFill>
                <a:latin typeface="Calibri"/>
              </a:rPr>
              <a:t>Série horaire de production solaire sur 72 h glissantes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2697480"/>
            <a:ext cx="890625" cy="4572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59" y="2697480"/>
            <a:ext cx="7991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82865" y="2926080"/>
            <a:ext cx="109728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492593" y="2697480"/>
            <a:ext cx="890625" cy="4572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38313" y="2697480"/>
            <a:ext cx="7991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383219" y="2926080"/>
            <a:ext cx="109728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492947" y="2697480"/>
            <a:ext cx="890625" cy="4572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38667" y="2697480"/>
            <a:ext cx="7991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383572" y="2926080"/>
            <a:ext cx="109728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493300" y="2697480"/>
            <a:ext cx="890625" cy="4572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39020" y="2697480"/>
            <a:ext cx="7991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383926" y="2926080"/>
            <a:ext cx="109728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0493654" y="2697480"/>
            <a:ext cx="890625" cy="4572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539374" y="2697480"/>
            <a:ext cx="79918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291840"/>
            <a:ext cx="48920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6B7280"/>
                </a:solidFill>
                <a:latin typeface="Calibri"/>
              </a:rPr>
              <a:t>32 unités, horizon récurrent 72 pas horaires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223260" y="3840480"/>
            <a:ext cx="0" cy="320040"/>
          </a:xfrm>
          <a:prstGeom prst="line">
            <a:avLst/>
          </a:prstGeom>
          <a:ln w="25400">
            <a:solidFill>
              <a:srgbClr val="FFC2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38259" y="3840480"/>
            <a:ext cx="0" cy="320040"/>
          </a:xfrm>
          <a:prstGeom prst="line">
            <a:avLst/>
          </a:prstGeom>
          <a:ln w="2540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48640" y="4160520"/>
            <a:ext cx="11064240" cy="502920"/>
          </a:xfrm>
          <a:prstGeom prst="roundRect">
            <a:avLst>
              <a:gd name="adj" fmla="val 15000"/>
            </a:avLst>
          </a:prstGeom>
          <a:solidFill>
            <a:srgbClr val="14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4160520"/>
            <a:ext cx="110642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Concaténation [score arbres ; embedding LSTM]  →  Dense 16 · ReLU  →  Dense 1 · Sigmoide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80760" y="4663440"/>
            <a:ext cx="0" cy="274320"/>
          </a:xfrm>
          <a:prstGeom prst="line">
            <a:avLst/>
          </a:prstGeom>
          <a:ln w="28575">
            <a:solidFill>
              <a:srgbClr val="008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566160" y="4983480"/>
            <a:ext cx="4937760" cy="502920"/>
          </a:xfrm>
          <a:prstGeom prst="roundRect">
            <a:avLst>
              <a:gd name="adj" fmla="val 50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P(batterie &lt; 20 % sous 72 h)  —  action &lt; 48 h si p &gt; 0,6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4000"/>
            </a:avLst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7240" y="576072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374EA2"/>
                </a:solidFill>
                <a:latin typeface="Calibri"/>
              </a:rPr>
              <a:t>Pourquoi un hybride ? Les arbres capturent les seuils non-linéaires (SOC, âge du parc) ; le LSTM capture la dynamique jour/nuit et la dérive météo récente.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ARCHITECTURE ENSEMBLISTE · 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Risque climatique — Random Forest + calibration bayésienne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Modèle non neuronal : ensemble d'arbres de décision, calibré par un a priori bayésien sur l'historique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06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Entrées : ECMWF-IFS (J+7), ERA5, CHIRPS, MODIS NDVI, CAMS aérosols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822960" y="2194560"/>
            <a:ext cx="1417320" cy="777240"/>
          </a:xfrm>
          <a:prstGeom prst="triangle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Arbre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1620" y="2971800"/>
            <a:ext cx="4549140" cy="594360"/>
          </a:xfrm>
          <a:prstGeom prst="line">
            <a:avLst/>
          </a:prstGeom>
          <a:ln w="12700">
            <a:solidFill>
              <a:srgbClr val="C7CE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>
            <a:off x="2496312" y="2194560"/>
            <a:ext cx="1417320" cy="777240"/>
          </a:xfrm>
          <a:prstGeom prst="triangle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96312" y="30175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Arbre 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4972" y="2971800"/>
            <a:ext cx="2875788" cy="594360"/>
          </a:xfrm>
          <a:prstGeom prst="line">
            <a:avLst/>
          </a:prstGeom>
          <a:ln w="12700">
            <a:solidFill>
              <a:srgbClr val="C7CE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>
            <a:off x="4169664" y="2194560"/>
            <a:ext cx="1417320" cy="777240"/>
          </a:xfrm>
          <a:prstGeom prst="triangl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69664" y="30175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Arbre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78324" y="2971800"/>
            <a:ext cx="1202436" cy="594360"/>
          </a:xfrm>
          <a:prstGeom prst="line">
            <a:avLst/>
          </a:prstGeom>
          <a:ln w="12700">
            <a:solidFill>
              <a:srgbClr val="C7CE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>
            <a:off x="5843016" y="2194560"/>
            <a:ext cx="1417320" cy="777240"/>
          </a:xfrm>
          <a:prstGeom prst="triangle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43016" y="30175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Arbre 4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080760" y="2971800"/>
            <a:ext cx="470916" cy="594360"/>
          </a:xfrm>
          <a:prstGeom prst="line">
            <a:avLst/>
          </a:prstGeom>
          <a:ln w="12700">
            <a:solidFill>
              <a:srgbClr val="C7CE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>
            <a:off x="7516368" y="2194560"/>
            <a:ext cx="1417320" cy="777240"/>
          </a:xfrm>
          <a:prstGeom prst="triangle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16368" y="3017520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Arbre 5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080760" y="2971800"/>
            <a:ext cx="2144268" cy="594360"/>
          </a:xfrm>
          <a:prstGeom prst="line">
            <a:avLst/>
          </a:prstGeom>
          <a:ln w="12700">
            <a:solidFill>
              <a:srgbClr val="C7CE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1901952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42B5C"/>
                </a:solidFill>
                <a:latin typeface="Calibri"/>
              </a:rPr>
              <a:t>Forêt de N ≈ 200 arbres (bagging, échantillons bootstrap)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3566160"/>
            <a:ext cx="2011680" cy="502920"/>
          </a:xfrm>
          <a:prstGeom prst="roundRect">
            <a:avLst>
              <a:gd name="adj" fmla="val 20000"/>
            </a:avLst>
          </a:prstGeom>
          <a:solidFill>
            <a:srgbClr val="14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74920" y="356616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Vote moyen des arbres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0760" y="4069080"/>
            <a:ext cx="0" cy="320040"/>
          </a:xfrm>
          <a:prstGeom prst="line">
            <a:avLst/>
          </a:prstGeom>
          <a:ln w="25400">
            <a:solidFill>
              <a:srgbClr val="142B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480560" y="4389120"/>
            <a:ext cx="3200400" cy="777240"/>
          </a:xfrm>
          <a:prstGeom prst="roundRect">
            <a:avLst>
              <a:gd name="adj" fmla="val 10000"/>
            </a:avLst>
          </a:prstGeom>
          <a:solidFill>
            <a:srgbClr val="F3E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60" y="44805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6A1E74"/>
                </a:solidFill>
                <a:latin typeface="Calibri"/>
              </a:rPr>
              <a:t>Calibration bayésienne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7548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prior = fréquence historique de l'aléa par district × saison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5166360"/>
            <a:ext cx="0" cy="274320"/>
          </a:xfrm>
          <a:prstGeom prst="line">
            <a:avLst/>
          </a:prstGeom>
          <a:ln w="25400">
            <a:solidFill>
              <a:srgbClr val="6A1E7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794760" y="5486400"/>
            <a:ext cx="4572000" cy="502920"/>
          </a:xfrm>
          <a:prstGeom prst="roundRect">
            <a:avLst>
              <a:gd name="adj" fmla="val 50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50" b="1">
                <a:solidFill>
                  <a:srgbClr val="FFFFFF"/>
                </a:solidFill>
              </a:rPr>
              <a:t>Score de risque calibré 0–100 par district × aléa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172200"/>
            <a:ext cx="11064240" cy="502920"/>
          </a:xfrm>
          <a:prstGeom prst="roundRect">
            <a:avLst>
              <a:gd name="adj" fmla="val 14000"/>
            </a:avLst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7240" y="6172200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6A1E74"/>
                </a:solidFill>
                <a:latin typeface="Calibri"/>
              </a:rPr>
              <a:t>Non-neuronal par conception : robuste sur peu de données, et le vote des arbres reste interprétable pour les équipes terrain.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ARCHITECTURE NEURONALE · 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Traduction santé — mBART (Transformer encodeur-décodeur)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Modèle de langue multilingue pré-entraîné, affiné sur un corpus santé FR ↔ Mooré / Dioula / Fulfuldé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07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69164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Tokens source (Français)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148840"/>
            <a:ext cx="0" cy="182880"/>
          </a:xfrm>
          <a:prstGeom prst="line">
            <a:avLst/>
          </a:prstGeom>
          <a:ln w="25400">
            <a:solidFill>
              <a:srgbClr val="1CABE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2331720"/>
            <a:ext cx="4297680" cy="2286000"/>
          </a:xfrm>
          <a:prstGeom prst="roundRect">
            <a:avLst>
              <a:gd name="adj" fmla="val 5000"/>
            </a:avLst>
          </a:prstGeom>
          <a:solidFill>
            <a:srgbClr val="EC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423160"/>
            <a:ext cx="502920" cy="292608"/>
          </a:xfrm>
          <a:prstGeom prst="ellipse">
            <a:avLst/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42316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×6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5059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B5C"/>
                </a:solidFill>
                <a:latin typeface="Calibri"/>
              </a:rPr>
              <a:t>Bloc encodeur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278892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34440" y="278892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Multi-Head Self-Attention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611880"/>
            <a:ext cx="3749040" cy="685800"/>
          </a:xfrm>
          <a:prstGeom prst="roundRect">
            <a:avLst>
              <a:gd name="adj" fmla="val 16000"/>
            </a:avLst>
          </a:prstGeom>
          <a:solidFill>
            <a:srgbClr val="374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34440" y="3611880"/>
            <a:ext cx="3657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Feed-Forward + Add &amp; Norm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1691640"/>
            <a:ext cx="4297680" cy="457200"/>
          </a:xfrm>
          <a:prstGeom prst="roundRect">
            <a:avLst>
              <a:gd name="adj" fmla="val 20000"/>
            </a:avLst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95160" y="169164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42B5C"/>
                </a:solidFill>
                <a:latin typeface="Calibri"/>
              </a:rPr>
              <a:t>Tokens cible partiels (Mooré / Dioula / Fulfuldé)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0" y="2148840"/>
            <a:ext cx="0" cy="182880"/>
          </a:xfrm>
          <a:prstGeom prst="line">
            <a:avLst/>
          </a:prstGeom>
          <a:ln w="25400">
            <a:solidFill>
              <a:srgbClr val="FFC20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95160" y="2331720"/>
            <a:ext cx="4297680" cy="2880360"/>
          </a:xfrm>
          <a:prstGeom prst="roundRect">
            <a:avLst>
              <a:gd name="adj" fmla="val 5000"/>
            </a:avLst>
          </a:prstGeom>
          <a:solidFill>
            <a:srgbClr val="FD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98480" y="2423160"/>
            <a:ext cx="502920" cy="292608"/>
          </a:xfrm>
          <a:prstGeom prst="ellipse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0" y="2423160"/>
            <a:ext cx="502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×6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450592"/>
            <a:ext cx="34747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42B5C"/>
                </a:solidFill>
                <a:latin typeface="Calibri"/>
              </a:rPr>
              <a:t>Bloc décodeur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2788920"/>
            <a:ext cx="3749040" cy="621792"/>
          </a:xfrm>
          <a:prstGeom prst="roundRect">
            <a:avLst>
              <a:gd name="adj" fmla="val 16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0" y="2788920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Masked Self-Attention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3502152"/>
            <a:ext cx="3749040" cy="621792"/>
          </a:xfrm>
          <a:prstGeom prst="roundRect">
            <a:avLst>
              <a:gd name="adj" fmla="val 16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0" y="3502152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Cross-Attention ↔ Encodeur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69480" y="4215384"/>
            <a:ext cx="3749040" cy="621792"/>
          </a:xfrm>
          <a:prstGeom prst="roundRect">
            <a:avLst>
              <a:gd name="adj" fmla="val 16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0" y="4215384"/>
            <a:ext cx="36576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Feed-Forward + Add &amp; Norm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0" y="3127248"/>
            <a:ext cx="2057400" cy="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212080" y="3127248"/>
            <a:ext cx="2057400" cy="685800"/>
          </a:xfrm>
          <a:prstGeom prst="line">
            <a:avLst/>
          </a:prstGeom>
          <a:ln w="19050">
            <a:solidFill>
              <a:srgbClr val="374E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5212080"/>
            <a:ext cx="0" cy="274320"/>
          </a:xfrm>
          <a:prstGeom prst="line">
            <a:avLst/>
          </a:prstGeom>
          <a:ln w="25400">
            <a:solidFill>
              <a:srgbClr val="F26A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269480" y="548640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</a:rPr>
              <a:t>Softmax → token suivant (génération autorégressive)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5989320"/>
            <a:ext cx="4297680" cy="594360"/>
          </a:xfrm>
          <a:prstGeom prst="roundRect">
            <a:avLst>
              <a:gd name="adj" fmla="val 14000"/>
            </a:avLst>
          </a:prstGeom>
          <a:solidFill>
            <a:srgbClr val="EEF6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3000" y="598932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30" b="0" i="0">
                <a:solidFill>
                  <a:srgbClr val="374EA2"/>
                </a:solidFill>
                <a:latin typeface="Calibri"/>
              </a:rPr>
              <a:t>≈ 610 M paramètres (mBART-50), fine-tuné sur corpus santé communautaire relu par des locuteurs natifs.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MOTEUR DE 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Simulateur de crise — Monte 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280"/>
                </a:solidFill>
                <a:latin typeface="Calibri"/>
              </a:rPr>
              <a:t>Différence clé : la Prédiction surveille la tendance réelle en continu ; la Simulation teste un scénario hypothétique choisi par l'utilisateur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08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965960"/>
            <a:ext cx="2377440" cy="960120"/>
          </a:xfrm>
          <a:prstGeom prst="roundRect">
            <a:avLst>
              <a:gd name="adj" fmla="val 14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Paramètres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scénario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53512" y="2446020"/>
            <a:ext cx="219456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1965960"/>
            <a:ext cx="2377440" cy="960120"/>
          </a:xfrm>
          <a:prstGeom prst="roundRect">
            <a:avLst>
              <a:gd name="adj" fmla="val 14000"/>
            </a:avLst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 tirages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aléatoires (100–2000)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05272" y="2446020"/>
            <a:ext cx="219455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852160" y="1965960"/>
            <a:ext cx="2377440" cy="960120"/>
          </a:xfrm>
          <a:prstGeom prst="roundRect">
            <a:avLst>
              <a:gd name="adj" fmla="val 14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Propagation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jour par jour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57031" y="2446020"/>
            <a:ext cx="219457" cy="0"/>
          </a:xfrm>
          <a:prstGeom prst="line">
            <a:avLst/>
          </a:prstGeom>
          <a:ln w="2857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03920" y="1965960"/>
            <a:ext cx="2377440" cy="960120"/>
          </a:xfrm>
          <a:prstGeom prst="roundRect">
            <a:avLst>
              <a:gd name="adj" fmla="val 14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0" y="1965960"/>
            <a:ext cx="21945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Distribution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P10 · P50 · P90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46120"/>
            <a:ext cx="5166360" cy="2606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3410712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C"/>
                </a:solidFill>
                <a:latin typeface="Calibri"/>
              </a:rPr>
              <a:t>Entrées du scénario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94759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1CABE2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Type de crise : canicule, inondation, sécheresse, épidémie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1CABE2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Intensité (faible / moyenne / élevée) et durée (3–30 j)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1CABE2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Districts affectés — état réel des centres au lancement (batterie, eau)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97880" y="3246120"/>
            <a:ext cx="5166360" cy="260604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3410712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C"/>
                </a:solidFill>
                <a:latin typeface="Calibri"/>
              </a:rPr>
              <a:t>Mécanique du tirage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94759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6A1E74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Bruit gaussien sur l'intensité (±12 %) et la résilience (±10 %)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6A1E74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Rupture de chaîne du froid : tirage aléatoire quotidien par centre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950" b="1">
                <a:solidFill>
                  <a:srgbClr val="6A1E74"/>
                </a:solidFill>
              </a:rPr>
              <a:t>●  </a:t>
            </a:r>
            <a:r>
              <a:rPr sz="1150">
                <a:solidFill>
                  <a:srgbClr val="222733"/>
                </a:solidFill>
                <a:latin typeface="Calibri"/>
              </a:rPr>
              <a:t>Sorties : enfants à risque, doses perdues, coût évité, plan d'action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ABE2"/>
                </a:solidFill>
                <a:latin typeface="Calibri"/>
              </a:rPr>
              <a:t>GOUVERNANCE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8813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42B5C"/>
                </a:solidFill>
                <a:latin typeface="Calibri"/>
              </a:rPr>
              <a:t>Protection des données &amp; fiabilité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42415"/>
            <a:ext cx="502920" cy="41148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09 /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Calibri"/>
              </a:rPr>
              <a:t>UNICEF Burkina Faso · Climate-Health Early Warning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645920"/>
            <a:ext cx="3429000" cy="594360"/>
          </a:xfrm>
          <a:prstGeom prst="roundRect">
            <a:avLst>
              <a:gd name="adj" fmla="val 10000"/>
            </a:avLst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1947672"/>
            <a:ext cx="3429000" cy="292608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Confidentialité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423160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00833D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Aucune donnée patient nominale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00833D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Agrégats hebdomadaires par district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00833D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Conformité loi 001-2021/AN (Burkina Faso)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160520" y="1645920"/>
            <a:ext cx="3429000" cy="594360"/>
          </a:xfrm>
          <a:prstGeom prst="roundRect">
            <a:avLst>
              <a:gd name="adj" fmla="val 10000"/>
            </a:avLst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1947672"/>
            <a:ext cx="3429000" cy="292608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16459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Sécurité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23160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1CABE2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Hébergement UNICEF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1CABE2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Chiffrement TLS 1.3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1CABE2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APIs REST ouvertes et documentées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645920"/>
            <a:ext cx="3429000" cy="4023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72400" y="1645920"/>
            <a:ext cx="3429000" cy="594360"/>
          </a:xfrm>
          <a:prstGeom prst="roundRect">
            <a:avLst>
              <a:gd name="adj" fmla="val 10000"/>
            </a:avLst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0" y="1947672"/>
            <a:ext cx="3429000" cy="292608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0" y="164592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Qualité modèle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423160"/>
            <a:ext cx="288036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F26A21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Ré-entraînement hebdomadaire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F26A21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Dérive surveillée (PSI &lt; 0,1)</a:t>
            </a:r>
          </a:p>
          <a:p>
            <a:pPr>
              <a:lnSpc>
                <a:spcPct val="108000"/>
              </a:lnSpc>
              <a:spcAft>
                <a:spcPts val="1400"/>
              </a:spcAft>
            </a:pPr>
            <a:r>
              <a:rPr sz="1000" b="1">
                <a:solidFill>
                  <a:srgbClr val="F26A21"/>
                </a:solidFill>
              </a:rPr>
              <a:t>●  </a:t>
            </a:r>
            <a:r>
              <a:rPr sz="1200">
                <a:solidFill>
                  <a:srgbClr val="222733"/>
                </a:solidFill>
                <a:latin typeface="Calibri"/>
              </a:rPr>
              <a:t>Explicabilité (SHAP) sur chaque prédiction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2960" y="822960"/>
            <a:ext cx="502920" cy="54864"/>
          </a:xfrm>
          <a:prstGeom prst="rect">
            <a:avLst/>
          </a:prstGeom>
          <a:solidFill>
            <a:srgbClr val="FFC2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ABE2"/>
                </a:solidFill>
                <a:latin typeface="Calibr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Quatre architectures, un moteur de simulation,</a:t>
            </a:r>
          </a:p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une seule mission : anticiper pour protéger.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918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B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3291840"/>
            <a:ext cx="2423160" cy="73152"/>
          </a:xfrm>
          <a:prstGeom prst="rect">
            <a:avLst/>
          </a:prstGeom>
          <a:solidFill>
            <a:srgbClr val="1C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3520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48–72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CE8"/>
                </a:solidFill>
                <a:latin typeface="Calibri"/>
              </a:rPr>
              <a:t>de délai d'anticipation avant crise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2918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B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29000" y="3291840"/>
            <a:ext cx="2423160" cy="73152"/>
          </a:xfrm>
          <a:prstGeom prst="rect">
            <a:avLst/>
          </a:prstGeom>
          <a:solidFill>
            <a:srgbClr val="6A1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3520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11480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CE8"/>
                </a:solidFill>
                <a:latin typeface="Calibri"/>
              </a:rPr>
              <a:t>architectures de modèles en 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2918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B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40" y="3291840"/>
            <a:ext cx="2423160" cy="73152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3520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100–2000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11480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CE8"/>
                </a:solidFill>
                <a:latin typeface="Calibri"/>
              </a:rPr>
              <a:t>tirages Monte Carlo par simulation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3291840"/>
            <a:ext cx="2423160" cy="1554480"/>
          </a:xfrm>
          <a:prstGeom prst="roundRect">
            <a:avLst>
              <a:gd name="adj" fmla="val 8000"/>
            </a:avLst>
          </a:prstGeom>
          <a:solidFill>
            <a:srgbClr val="1B35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641080" y="3291840"/>
            <a:ext cx="2423160" cy="73152"/>
          </a:xfrm>
          <a:prstGeom prst="rect">
            <a:avLst/>
          </a:prstGeom>
          <a:solidFill>
            <a:srgbClr val="008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59" y="3520440"/>
            <a:ext cx="2057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411480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9CCE8"/>
                </a:solidFill>
                <a:latin typeface="Calibri"/>
              </a:rPr>
              <a:t>donnée patient nominale utilisée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E97BC"/>
                </a:solidFill>
                <a:latin typeface="Calibri"/>
              </a:rPr>
              <a:t>GO AI CORP — en collaboration avec UNICEF Burkina Faso ·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6035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7E97BC"/>
                </a:solidFill>
                <a:latin typeface="Calibri"/>
              </a:rPr>
              <a:t>Digital Public Good · 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1155</Words>
  <Application>Microsoft Office PowerPoint</Application>
  <PresentationFormat>Grand écran</PresentationFormat>
  <Paragraphs>221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bando</cp:lastModifiedBy>
  <cp:revision>1</cp:revision>
  <dcterms:created xsi:type="dcterms:W3CDTF">2013-01-27T09:14:16Z</dcterms:created>
  <dcterms:modified xsi:type="dcterms:W3CDTF">2026-09-14T11:10:32Z</dcterms:modified>
  <cp:category/>
</cp:coreProperties>
</file>